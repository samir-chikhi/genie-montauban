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494" y="464344"/>
            <a:ext cx="81010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21494" y="825103"/>
            <a:ext cx="5643563" cy="1434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3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Simulateur de business plan automatisé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21494" y="2460017"/>
            <a:ext cx="4929188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l’idée au pilotage : un prévisionnel français, explicable et orienté décision.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586538" y="807244"/>
            <a:ext cx="2035969" cy="2035969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57988" y="978694"/>
            <a:ext cx="1693069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45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4450" dirty="0"/>
          </a:p>
        </p:txBody>
      </p:sp>
      <p:sp>
        <p:nvSpPr>
          <p:cNvPr id="8" name="Text 5"/>
          <p:cNvSpPr/>
          <p:nvPr/>
        </p:nvSpPr>
        <p:spPr>
          <a:xfrm>
            <a:off x="6757988" y="1814513"/>
            <a:ext cx="16930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Cadrage produit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57988" y="2121694"/>
            <a:ext cx="1693069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d’action, moteur financier et stratégie d’incubation.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1494" y="4604147"/>
            <a:ext cx="8101013" cy="389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21494" y="4604147"/>
            <a:ext cx="81010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Text 9"/>
          <p:cNvSpPr/>
          <p:nvPr/>
        </p:nvSpPr>
        <p:spPr>
          <a:xfrm>
            <a:off x="521494" y="4604147"/>
            <a:ext cx="8101013" cy="389334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0069" y="350044"/>
            <a:ext cx="8158163" cy="3214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50069" y="664369"/>
            <a:ext cx="815816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2"/>
          <p:cNvSpPr/>
          <p:nvPr/>
        </p:nvSpPr>
        <p:spPr>
          <a:xfrm>
            <a:off x="550069" y="350044"/>
            <a:ext cx="256890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/ OPPORTUNITÉ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68190" y="350044"/>
            <a:ext cx="24004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069" y="907256"/>
            <a:ext cx="5429250" cy="6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Une opportunité : passer du PDF au pilotage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50069" y="1665052"/>
            <a:ext cx="4643438" cy="72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solutions existantes couvrent des briques séparées. La Fabrique du Génie peut les réunir dans une expérience française, pédagogique et exploitable.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0069" y="2582242"/>
            <a:ext cx="26526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CONSTAt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50069" y="2853705"/>
            <a:ext cx="2652675" cy="36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Simplicité, profondeur financière, IA et suivi plan/réel sont rarement réunis.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02757" y="2582242"/>
            <a:ext cx="265273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POSITIONNEMENT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02757" y="2853705"/>
            <a:ext cx="2652731" cy="36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outil pensé pour les porteurs de projet et les conseillers de terrain.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5500" y="2582242"/>
            <a:ext cx="265273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PROMESSE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55500" y="2853705"/>
            <a:ext cx="2652731" cy="36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Décrire, tester, corriger et décider à partir d’hypothèses visibles.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5775" y="4757738"/>
            <a:ext cx="817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85775" y="4757738"/>
            <a:ext cx="8172450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7" name="Text 14"/>
          <p:cNvSpPr/>
          <p:nvPr/>
        </p:nvSpPr>
        <p:spPr>
          <a:xfrm>
            <a:off x="485775" y="4757738"/>
            <a:ext cx="8172450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0044" y="264319"/>
            <a:ext cx="8443913" cy="3250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0044" y="582216"/>
            <a:ext cx="84439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2"/>
          <p:cNvSpPr/>
          <p:nvPr/>
        </p:nvSpPr>
        <p:spPr>
          <a:xfrm>
            <a:off x="350044" y="264319"/>
            <a:ext cx="196453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RÉFÉRENCES FONCTIONNELLES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588183" y="264319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50044" y="760809"/>
            <a:ext cx="8443913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Les meilleures pratiques sont déjà identifiées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53616" y="1300163"/>
            <a:ext cx="2362293" cy="30003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6"/>
          <p:cNvSpPr/>
          <p:nvPr/>
        </p:nvSpPr>
        <p:spPr>
          <a:xfrm>
            <a:off x="353616" y="1300163"/>
            <a:ext cx="2362293" cy="30003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Référence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15909" y="1300163"/>
            <a:ext cx="3477109" cy="30003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8"/>
          <p:cNvSpPr/>
          <p:nvPr/>
        </p:nvSpPr>
        <p:spPr>
          <a:xfrm>
            <a:off x="2715909" y="1300163"/>
            <a:ext cx="3477109" cy="30003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Fonction à retenir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93017" y="1300163"/>
            <a:ext cx="2597367" cy="30003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6193017" y="1300163"/>
            <a:ext cx="2597367" cy="30003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Apport pour le modèle cible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53616" y="1600200"/>
            <a:ext cx="2362293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Propulse / CCI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15909" y="1600200"/>
            <a:ext cx="3477109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guidé et accompagnement humain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93017" y="1600200"/>
            <a:ext cx="2597367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Simplicité d’entrée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53616" y="1918097"/>
            <a:ext cx="2362293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Previ’Start / PlanGuru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15909" y="1918097"/>
            <a:ext cx="3477109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Moteur financier, contrôles, mode expert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3017" y="1918097"/>
            <a:ext cx="2597367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Fiabilité et profondeur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53616" y="2235994"/>
            <a:ext cx="2362293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LivePlan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15909" y="2235994"/>
            <a:ext cx="3477109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Scénarios « what-if »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193017" y="2235994"/>
            <a:ext cx="2597367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Décisions rapides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53616" y="2553891"/>
            <a:ext cx="2362293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Upmetrics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15909" y="2553891"/>
            <a:ext cx="3477109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Collaboration, IA, plan/réel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93017" y="2553891"/>
            <a:ext cx="2597367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professionnel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53616" y="2871788"/>
            <a:ext cx="2362293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Supernova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15909" y="2871788"/>
            <a:ext cx="3477109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français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93017" y="2871788"/>
            <a:ext cx="2597367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Pertinence locale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53616" y="3189684"/>
            <a:ext cx="2362293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IdeaBuddy / Venturekit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715909" y="3189684"/>
            <a:ext cx="3477109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Démarrage en langage naturel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93017" y="3189684"/>
            <a:ext cx="2597367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rapide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42900" y="4800600"/>
            <a:ext cx="8458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42900" y="4800600"/>
            <a:ext cx="8458200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4" name="Text 31"/>
          <p:cNvSpPr/>
          <p:nvPr/>
        </p:nvSpPr>
        <p:spPr>
          <a:xfrm>
            <a:off x="342900" y="4800600"/>
            <a:ext cx="8458200" cy="20002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410766"/>
            <a:ext cx="223744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ARCHITECTURE &amp; TRANSPARENCE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73883" y="350044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144" y="582216"/>
            <a:ext cx="9129713" cy="501458"/>
          </a:xfrm>
          <a:prstGeom prst="rect">
            <a:avLst/>
          </a:prstGeom>
          <a:noFill/>
          <a:ln/>
        </p:spPr>
        <p:txBody>
          <a:bodyPr wrap="square" lIns="544322" tIns="204089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 produit doit rester explicable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71488" y="1433717"/>
            <a:ext cx="2571750" cy="34647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4"/>
          <p:cNvSpPr/>
          <p:nvPr/>
        </p:nvSpPr>
        <p:spPr>
          <a:xfrm>
            <a:off x="471488" y="1433717"/>
            <a:ext cx="2571750" cy="34647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01. INTERROGER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4363" y="1951639"/>
            <a:ext cx="2286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Collecte guidée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4363" y="2262392"/>
            <a:ext cx="2286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L'utilisateur décrit son projet en langage simple. L'IA structure les réponses en hypothèses chiffrées sans les inventer.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4363" y="2955336"/>
            <a:ext cx="1325891" cy="207169"/>
          </a:xfrm>
          <a:prstGeom prst="roundRect">
            <a:avLst/>
          </a:prstGeom>
          <a:solidFill>
            <a:srgbClr val="F0F2FF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363" y="2955336"/>
            <a:ext cx="1325891" cy="207169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Hypothèses visibles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286125" y="1433717"/>
            <a:ext cx="2571750" cy="34647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3286125" y="1433717"/>
            <a:ext cx="2571750" cy="34647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02. CALCULER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429000" y="1951639"/>
            <a:ext cx="2286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Moteur déterministe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29000" y="2262392"/>
            <a:ext cx="2286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calculs financiers sont fixes et auditables. Chaque résultat peut être tracé jusqu'à sa source initiale.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29000" y="2955336"/>
            <a:ext cx="1145902" cy="207169"/>
          </a:xfrm>
          <a:prstGeom prst="roundRect">
            <a:avLst/>
          </a:prstGeom>
          <a:solidFill>
            <a:srgbClr val="F0F2FF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29000" y="2955336"/>
            <a:ext cx="1145902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Zéro boîte noire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100763" y="1433717"/>
            <a:ext cx="2571750" cy="34647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9" name="Text 16"/>
          <p:cNvSpPr/>
          <p:nvPr/>
        </p:nvSpPr>
        <p:spPr>
          <a:xfrm>
            <a:off x="6100763" y="1433717"/>
            <a:ext cx="2571750" cy="34647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03. RÉDIGER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43638" y="1951639"/>
            <a:ext cx="2286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Récit cohérent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43638" y="2262392"/>
            <a:ext cx="2286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business plan narratif est généré uniquement à partir des données validées du moteur financier.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43638" y="2955336"/>
            <a:ext cx="1445940" cy="207169"/>
          </a:xfrm>
          <a:prstGeom prst="roundRect">
            <a:avLst/>
          </a:prstGeom>
          <a:solidFill>
            <a:srgbClr val="F0F2FF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43638" y="2955336"/>
            <a:ext cx="1445940" cy="207169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Preuve par le chiffre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144" y="4707731"/>
            <a:ext cx="9129713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144" y="4707731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6" name="Text 23"/>
          <p:cNvSpPr/>
          <p:nvPr/>
        </p:nvSpPr>
        <p:spPr>
          <a:xfrm>
            <a:off x="464344" y="4829175"/>
            <a:ext cx="24003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759383" y="4829175"/>
            <a:ext cx="192027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Confidentialité : Projet Interne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27246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EXPÉRIENCE UTILISATEUR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35769" y="517922"/>
            <a:ext cx="8272463" cy="560784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 parcours cible en 12 étapes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35769" y="1293019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925" y="1400175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2925" y="1689497"/>
            <a:ext cx="1773436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Idée et fiche projet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30673" y="1293019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37830" y="1400175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37830" y="1689497"/>
            <a:ext cx="1773436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Offre, clients et prix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25578" y="1293019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2734" y="1400175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32734" y="1689497"/>
            <a:ext cx="1773436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Acquisition et ventes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20483" y="1293019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27639" y="1400175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27639" y="1689497"/>
            <a:ext cx="1773436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Ressources et charges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5769" y="2257425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2925" y="2364581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2925" y="2653903"/>
            <a:ext cx="177343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Investissements et financements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530673" y="2257425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37830" y="2364581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637830" y="2653903"/>
            <a:ext cx="177343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Cadre français paramétrable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25578" y="2257425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32734" y="2364581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32734" y="2653903"/>
            <a:ext cx="177343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Prévision mensuelle et annuelle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720483" y="2257425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27639" y="2364581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827639" y="2653903"/>
            <a:ext cx="177343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Scénarios et sensibilité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35769" y="3221831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2925" y="3328988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2925" y="3618309"/>
            <a:ext cx="1773436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Rédaction assistée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530673" y="3221831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637830" y="3328988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637830" y="3618309"/>
            <a:ext cx="1773436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Validation conseiller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25578" y="3221831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32734" y="3328988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732734" y="3618309"/>
            <a:ext cx="177343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Export PDF, Word et Excel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720483" y="3221831"/>
            <a:ext cx="1987748" cy="857250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27639" y="3328988"/>
            <a:ext cx="17734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827639" y="3618309"/>
            <a:ext cx="1773436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Suivi plan/réel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144" y="4743450"/>
            <a:ext cx="9129713" cy="3929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7144" y="4743450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3" name="Text 40"/>
          <p:cNvSpPr/>
          <p:nvPr/>
        </p:nvSpPr>
        <p:spPr>
          <a:xfrm>
            <a:off x="7144" y="4743450"/>
            <a:ext cx="9129713" cy="392906"/>
          </a:xfrm>
          <a:prstGeom prst="rect">
            <a:avLst/>
          </a:prstGeom>
          <a:noFill/>
          <a:ln/>
        </p:spPr>
        <p:txBody>
          <a:bodyPr wrap="square" lIns="510286" tIns="127508" rIns="510286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344" y="350044"/>
            <a:ext cx="8215313" cy="3536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64344" y="696516"/>
            <a:ext cx="82153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2"/>
          <p:cNvSpPr/>
          <p:nvPr/>
        </p:nvSpPr>
        <p:spPr>
          <a:xfrm>
            <a:off x="464344" y="392906"/>
            <a:ext cx="155449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STRATÉGIE PRODUIT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73883" y="350044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4344" y="925116"/>
            <a:ext cx="8215313" cy="69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 MVP commence par un moteur financier fiable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464344" y="1959508"/>
            <a:ext cx="8215313" cy="2653122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938" y="2138102"/>
            <a:ext cx="375046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MODÉLISATION DES FLUX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2938" y="2448855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Revenus par produit, service et canal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2938" y="2666014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Charges fixes, variables et effectifs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2938" y="2883173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Investissements et amortissements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2938" y="2448855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2938" y="2666014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2938" y="2883173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50594" y="2138102"/>
            <a:ext cx="375046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ÉTATS DE SYNTHÈSE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50594" y="2448855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 de résultat (P&amp;L) sur 3 ans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0594" y="2666014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trésorerie mensuel détaillé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50594" y="2883173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financement initial et global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50594" y="2448855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50594" y="2666014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50594" y="2883173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2938" y="3457519"/>
            <a:ext cx="375046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STRUCTURE &amp; ÉQUILIBRE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2938" y="3768272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 actif/passif automatisé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2938" y="3985431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 du BFR et fonds de roulement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2938" y="4202590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Capacité d'autofinancement (CAF)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2938" y="3768272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2938" y="3985431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42938" y="4202590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750594" y="3457519"/>
            <a:ext cx="375046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ANALYSE DÉCISIONNELLE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50594" y="3768272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Seuil de rentabilité et point mort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50594" y="3985431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Scénarios : Prudent, Central, Ambitieux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750594" y="4202590"/>
            <a:ext cx="3750469" cy="217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Alertes de cohérence et ratios clés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4344" y="4736306"/>
            <a:ext cx="8215313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4344" y="4736306"/>
            <a:ext cx="82153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6" name="Text 33"/>
          <p:cNvSpPr/>
          <p:nvPr/>
        </p:nvSpPr>
        <p:spPr>
          <a:xfrm>
            <a:off x="464344" y="4736306"/>
            <a:ext cx="8215313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750594" y="3768272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750594" y="3985431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750594" y="4202590"/>
            <a:ext cx="135731" cy="217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292894"/>
            <a:ext cx="9129713" cy="3464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632222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2"/>
          <p:cNvSpPr/>
          <p:nvPr/>
        </p:nvSpPr>
        <p:spPr>
          <a:xfrm>
            <a:off x="435769" y="353616"/>
            <a:ext cx="190598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DÉVELOPPEMENT &amp; ROADMAP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502458" y="292894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44" y="632222"/>
            <a:ext cx="9129713" cy="687195"/>
          </a:xfrm>
          <a:prstGeom prst="rect">
            <a:avLst/>
          </a:prstGeom>
          <a:noFill/>
          <a:ln/>
        </p:spPr>
        <p:txBody>
          <a:bodyPr wrap="square" lIns="510286" tIns="255143" rIns="510286" bIns="170053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Une feuille de route en trois versions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35769" y="1319417"/>
            <a:ext cx="8272463" cy="2871788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4363" y="1498011"/>
            <a:ext cx="651532" cy="192881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0" name="Text 7"/>
          <p:cNvSpPr/>
          <p:nvPr/>
        </p:nvSpPr>
        <p:spPr>
          <a:xfrm>
            <a:off x="614363" y="1498011"/>
            <a:ext cx="651532" cy="19288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V1 — MVP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4363" y="1798048"/>
            <a:ext cx="239315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FIABILISER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4363" y="2101658"/>
            <a:ext cx="23931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i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Prévisionnel guidé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4363" y="2376692"/>
            <a:ext cx="23931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Moteur financier déterministe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4363" y="2622426"/>
            <a:ext cx="23931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Scénarios (Prudent / Central / Ambitieux)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4363" y="2868160"/>
            <a:ext cx="23931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Contrôles de cohérence automatiques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4363" y="3113894"/>
            <a:ext cx="23931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PDF structuré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4363" y="2376692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4363" y="2622426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14363" y="2868160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4363" y="3113894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371850" y="1498011"/>
            <a:ext cx="771581" cy="192881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2" name="Text 19"/>
          <p:cNvSpPr/>
          <p:nvPr/>
        </p:nvSpPr>
        <p:spPr>
          <a:xfrm>
            <a:off x="3371850" y="1498011"/>
            <a:ext cx="771581" cy="19288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V2 — SMART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371850" y="1798048"/>
            <a:ext cx="239315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AUGMENTER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71850" y="2101658"/>
            <a:ext cx="23931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i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contrôlée &amp; Dossier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371850" y="2376692"/>
            <a:ext cx="23931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Génération narrative assistée par IA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371850" y="2622426"/>
            <a:ext cx="23931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sectorielles intégrées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371850" y="2868160"/>
            <a:ext cx="23931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Exports Word &amp; Excel éditables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371850" y="3113894"/>
            <a:ext cx="23931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Espace de collaboration partagé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71850" y="2376692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371850" y="2622426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371850" y="2868160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371850" y="3113894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129338" y="1498011"/>
            <a:ext cx="651532" cy="192881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4" name="Text 31"/>
          <p:cNvSpPr/>
          <p:nvPr/>
        </p:nvSpPr>
        <p:spPr>
          <a:xfrm>
            <a:off x="6129338" y="1498011"/>
            <a:ext cx="651532" cy="19288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V3 — PRO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129338" y="1798048"/>
            <a:ext cx="24003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PILOTER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129338" y="2101658"/>
            <a:ext cx="24003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i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Suivi &amp; Distribution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129338" y="2376692"/>
            <a:ext cx="24003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Comparaison Plan vs Réel mensuelle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129338" y="2622426"/>
            <a:ext cx="24003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Alertes d'écarts et révisions guidées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129338" y="2868160"/>
            <a:ext cx="24003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White-Label pour partenaires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129338" y="3113894"/>
            <a:ext cx="24003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Connecteurs comptables natifs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44" y="4707731"/>
            <a:ext cx="9129713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7144" y="4707731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3" name="Text 40"/>
          <p:cNvSpPr/>
          <p:nvPr/>
        </p:nvSpPr>
        <p:spPr>
          <a:xfrm>
            <a:off x="6129338" y="2376692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129338" y="2622426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129338" y="2868160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129338" y="3113894"/>
            <a:ext cx="11430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35769" y="4822031"/>
            <a:ext cx="24003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787958" y="4822031"/>
            <a:ext cx="192027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Document de travail confidentiel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350044"/>
            <a:ext cx="9129713" cy="3536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696516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2"/>
          <p:cNvSpPr/>
          <p:nvPr/>
        </p:nvSpPr>
        <p:spPr>
          <a:xfrm>
            <a:off x="464344" y="392906"/>
            <a:ext cx="182885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CONFORMITÉ &amp; RISQUES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73883" y="350044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44" y="696516"/>
            <a:ext cx="9129713" cy="1060066"/>
          </a:xfrm>
          <a:prstGeom prst="rect">
            <a:avLst/>
          </a:prstGeom>
          <a:noFill/>
          <a:ln/>
        </p:spPr>
        <p:txBody>
          <a:bodyPr wrap="square" lIns="544322" tIns="272161" rIns="544322" bIns="204089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 cadre réglementaire doit être intégré dès le départ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67916" y="1760153"/>
            <a:ext cx="2462417" cy="33218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6"/>
          <p:cNvSpPr/>
          <p:nvPr/>
        </p:nvSpPr>
        <p:spPr>
          <a:xfrm>
            <a:off x="467916" y="1760153"/>
            <a:ext cx="2462417" cy="33218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ACTIVITÉ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930333" y="1760153"/>
            <a:ext cx="4425721" cy="33218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8"/>
          <p:cNvSpPr/>
          <p:nvPr/>
        </p:nvSpPr>
        <p:spPr>
          <a:xfrm>
            <a:off x="2930333" y="1760153"/>
            <a:ext cx="4425721" cy="33218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CADRE &amp; OBLIGATIONS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356053" y="1760153"/>
            <a:ext cx="1320031" cy="33218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7356053" y="1760153"/>
            <a:ext cx="1320031" cy="33218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AUTORITÉ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7916" y="2092337"/>
            <a:ext cx="2462417" cy="4157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Incubation &amp; Conseil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048205" y="2228069"/>
            <a:ext cx="13570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 agrément général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05294" y="2228069"/>
            <a:ext cx="27438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requis pour l'accompagnement entrepreneurial privé.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56053" y="2092337"/>
            <a:ext cx="1320031" cy="4157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Droit commun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67916" y="2508070"/>
            <a:ext cx="2462417" cy="59572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Formation Professionnelle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048205" y="2733768"/>
            <a:ext cx="24332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Déclaration d'activité obligatoire. Certification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1489" y="2733768"/>
            <a:ext cx="4788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Qualiopi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60343" y="2733768"/>
            <a:ext cx="119646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les fonds publics.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356053" y="2508070"/>
            <a:ext cx="1320031" cy="59572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DREETS / COFRAC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67916" y="3103792"/>
            <a:ext cx="2462417" cy="4157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Domiciliation Commerciale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930333" y="3103792"/>
            <a:ext cx="4425721" cy="4157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Agrément préfectoral indispensable pour héberger des sièges sociaux.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56053" y="3103792"/>
            <a:ext cx="1320031" cy="4157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Préfecture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67916" y="3519525"/>
            <a:ext cx="2462417" cy="59572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Conseil Réglementé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048205" y="3655256"/>
            <a:ext cx="313164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Droit, Comptabilité, Finance : à confier exclusivement à des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048205" y="3655256"/>
            <a:ext cx="3757836" cy="322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partenaires habilités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512660" y="3835245"/>
            <a:ext cx="321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356053" y="3519525"/>
            <a:ext cx="1320031" cy="59572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Ordres &amp; AMF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144" y="4707731"/>
            <a:ext cx="9129713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144" y="4707731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3" name="Text 30"/>
          <p:cNvSpPr/>
          <p:nvPr/>
        </p:nvSpPr>
        <p:spPr>
          <a:xfrm>
            <a:off x="7144" y="4707731"/>
            <a:ext cx="9129713" cy="428625"/>
          </a:xfrm>
          <a:prstGeom prst="rect">
            <a:avLst/>
          </a:prstGeom>
          <a:noFill/>
          <a:ln/>
        </p:spPr>
        <p:txBody>
          <a:bodyPr wrap="square" lIns="544322" tIns="136017" rIns="544322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353616"/>
            <a:ext cx="182310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PLAN D'ACTION IMMÉDIAT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502458" y="292894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144" y="525066"/>
            <a:ext cx="9129713" cy="6229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144" y="1140823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4"/>
          <p:cNvSpPr/>
          <p:nvPr/>
        </p:nvSpPr>
        <p:spPr>
          <a:xfrm>
            <a:off x="7144" y="525066"/>
            <a:ext cx="9129713" cy="622902"/>
          </a:xfrm>
          <a:prstGeom prst="rect">
            <a:avLst/>
          </a:prstGeom>
          <a:noFill/>
          <a:ln/>
        </p:spPr>
        <p:txBody>
          <a:bodyPr wrap="square" lIns="510286" tIns="170053" rIns="510286" bIns="170053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Les décisions des 30 prochains jours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35769" y="1426573"/>
            <a:ext cx="4064794" cy="1010338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7219" y="1569448"/>
            <a:ext cx="3721894" cy="175022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SEGMENT MVP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7219" y="1830195"/>
            <a:ext cx="372189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Cibler les créations de petites activités de services et de commerce accompagnées localement.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43438" y="1426573"/>
            <a:ext cx="4064794" cy="1010338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4888" y="1569448"/>
            <a:ext cx="3721894" cy="175022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SECTEURS PILOTES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14888" y="1830195"/>
            <a:ext cx="372189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Sélectionner 3 secteurs et réunir 10 à 15 porteurs de projet pour les premiers tests utilisateurs.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5769" y="2579787"/>
            <a:ext cx="4064794" cy="1010394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7219" y="2722662"/>
            <a:ext cx="3721894" cy="175022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PARTENAIRES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7219" y="2983409"/>
            <a:ext cx="372189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Désigner un expert-comptable partenaire pour valider les règles de calcul et les scénarios financiers.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43438" y="2579787"/>
            <a:ext cx="4064794" cy="1010394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14888" y="2722662"/>
            <a:ext cx="3721894" cy="175022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MAQUETTES &amp; RÈGLES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14888" y="2983409"/>
            <a:ext cx="372189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 le prototype UX, le dictionnaire des données et les paramètres fiscaux/sociaux français.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5769" y="3733056"/>
            <a:ext cx="8272463" cy="1010394"/>
          </a:xfrm>
          <a:prstGeom prst="rect">
            <a:avLst/>
          </a:prstGeom>
          <a:solidFill>
            <a:srgbClr val="F7F8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7219" y="3875931"/>
            <a:ext cx="7929563" cy="175022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QUALIFICATION DES ATELIERS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7219" y="4136678"/>
            <a:ext cx="7929563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Décider si les prestations d'accompagnement relèvent du conseil, de la formation professionnelle (DREETS/Qualiopi) ou de la domiciliation.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144" y="4743450"/>
            <a:ext cx="9129713" cy="3929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144" y="4743450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5" name="Text 22"/>
          <p:cNvSpPr/>
          <p:nvPr/>
        </p:nvSpPr>
        <p:spPr>
          <a:xfrm>
            <a:off x="7144" y="4743450"/>
            <a:ext cx="9129713" cy="392906"/>
          </a:xfrm>
          <a:prstGeom prst="rect">
            <a:avLst/>
          </a:prstGeom>
          <a:noFill/>
          <a:ln/>
        </p:spPr>
        <p:txBody>
          <a:bodyPr wrap="square" lIns="510286" tIns="127508" rIns="510286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410766"/>
            <a:ext cx="223744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DIFFÉRENCIATION STRATÉGIQUE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73883" y="350044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144" y="582216"/>
            <a:ext cx="9129713" cy="501458"/>
          </a:xfrm>
          <a:prstGeom prst="rect">
            <a:avLst/>
          </a:prstGeom>
          <a:noFill/>
          <a:ln/>
        </p:spPr>
        <p:txBody>
          <a:bodyPr wrap="square" lIns="544322" tIns="204089" rIns="54432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 facteur différenciant : la confiance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64344" y="1483723"/>
            <a:ext cx="1925241" cy="3224008"/>
          </a:xfrm>
          <a:prstGeom prst="rect">
            <a:avLst/>
          </a:prstGeom>
          <a:solidFill>
            <a:srgbClr val="FCFDFF"/>
          </a:solidFill>
          <a:ln w="9144">
            <a:solidFill>
              <a:srgbClr val="1A237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30" y="1712323"/>
            <a:ext cx="321469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7219" y="2169523"/>
            <a:ext cx="1639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HYPOTHÈSES VISIBLES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07219" y="2626723"/>
            <a:ext cx="1639491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chiffre est modifiable et justifié. L'utilisateur garde le contrôle total sur ses données d'entrée.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561034" y="1483723"/>
            <a:ext cx="1925241" cy="3224008"/>
          </a:xfrm>
          <a:prstGeom prst="rect">
            <a:avLst/>
          </a:prstGeom>
          <a:solidFill>
            <a:srgbClr val="FCFDFF"/>
          </a:solidFill>
          <a:ln w="9144">
            <a:solidFill>
              <a:srgbClr val="1A237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498" y="1712323"/>
            <a:ext cx="214313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03909" y="2169523"/>
            <a:ext cx="1639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CALCULS AUDITABLES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2703909" y="2626723"/>
            <a:ext cx="1639491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Moteur financier transparent. Aucune "boîte noire" : les relations entre tableaux sont traçables.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657725" y="1483723"/>
            <a:ext cx="1925241" cy="3224008"/>
          </a:xfrm>
          <a:prstGeom prst="rect">
            <a:avLst/>
          </a:prstGeom>
          <a:solidFill>
            <a:srgbClr val="FCFDFF"/>
          </a:solidFill>
          <a:ln w="9144">
            <a:solidFill>
              <a:srgbClr val="1A237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330" y="1712323"/>
            <a:ext cx="250031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00600" y="2169523"/>
            <a:ext cx="1639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DONNÉES SOURCÉES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800600" y="2626723"/>
            <a:ext cx="1639491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Benchmarks sectoriels français datés et localisés. Références systématiques aux sources de marché.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754416" y="1483723"/>
            <a:ext cx="1925241" cy="3224008"/>
          </a:xfrm>
          <a:prstGeom prst="rect">
            <a:avLst/>
          </a:prstGeom>
          <a:solidFill>
            <a:srgbClr val="FCFDFF"/>
          </a:solidFill>
          <a:ln w="9144">
            <a:solidFill>
              <a:srgbClr val="1A237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161" y="1712323"/>
            <a:ext cx="285750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97291" y="2169523"/>
            <a:ext cx="1639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IA EXPLICATIVE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897291" y="2626723"/>
            <a:ext cx="1639491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L'IA ne décide pas, elle explique. Elle aide à comprendre les impacts et à corriger les incohérences.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7144" y="4707731"/>
            <a:ext cx="9129713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7144" y="4707731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4" name="Text 17"/>
          <p:cNvSpPr/>
          <p:nvPr/>
        </p:nvSpPr>
        <p:spPr>
          <a:xfrm>
            <a:off x="7144" y="4707731"/>
            <a:ext cx="9129713" cy="428625"/>
          </a:xfrm>
          <a:prstGeom prst="rect">
            <a:avLst/>
          </a:prstGeom>
          <a:noFill/>
          <a:ln/>
        </p:spPr>
        <p:txBody>
          <a:bodyPr wrap="square" lIns="544322" tIns="136017" rIns="544322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79867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2" kern="0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CONCLUSION &amp; ACTION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8644" y="753666"/>
            <a:ext cx="7986713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Prochaine étape : lancer le cadrage MVP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578644" y="1856594"/>
            <a:ext cx="7986713" cy="2586038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8644" y="1856594"/>
            <a:ext cx="3993356" cy="1285875"/>
          </a:xfrm>
          <a:prstGeom prst="rect">
            <a:avLst/>
          </a:prstGeom>
          <a:solidFill>
            <a:srgbClr val="FCFC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2956" y="2070906"/>
            <a:ext cx="35647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01. SPÉCIFICATIONS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2956" y="2392375"/>
            <a:ext cx="35647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Finaliser le cahier des charges fonctionnel et les règles de calcul financier.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1856594"/>
            <a:ext cx="3993356" cy="1285875"/>
          </a:xfrm>
          <a:prstGeom prst="rect">
            <a:avLst/>
          </a:prstGeom>
          <a:solidFill>
            <a:srgbClr val="FCFC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86313" y="2070906"/>
            <a:ext cx="35647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02. DESIGN UX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86313" y="2392375"/>
            <a:ext cx="35647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Construire le prototype cliquable et tester le parcours avec des porteurs de projet.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8644" y="3142469"/>
            <a:ext cx="3993356" cy="1285875"/>
          </a:xfrm>
          <a:prstGeom prst="rect">
            <a:avLst/>
          </a:prstGeom>
          <a:solidFill>
            <a:srgbClr val="FCFC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2956" y="3356781"/>
            <a:ext cx="35647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03. VALIDATION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2956" y="3678250"/>
            <a:ext cx="35647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Vérifier le modèle financier sur 10 cas réels avec l'expert-comptable partenaire.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0" y="3142469"/>
            <a:ext cx="3993356" cy="1285875"/>
          </a:xfrm>
          <a:prstGeom prst="rect">
            <a:avLst/>
          </a:prstGeom>
          <a:solidFill>
            <a:srgbClr val="FCFCFC"/>
          </a:solidFill>
          <a:ln w="9144">
            <a:solidFill>
              <a:srgbClr val="1A23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86313" y="3356781"/>
            <a:ext cx="35647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04. LANCEMENT PILOTE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86313" y="3678250"/>
            <a:ext cx="35647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Former les conseillers de la Fabrique du Génie à l'utilisation de l'outil en incubation.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44" y="4714094"/>
            <a:ext cx="91297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Ensemble, transformons l'idée en action.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44" y="4618434"/>
            <a:ext cx="9129713" cy="5179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144" y="4618434"/>
            <a:ext cx="9129713" cy="71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1" name="Text 18"/>
          <p:cNvSpPr/>
          <p:nvPr/>
        </p:nvSpPr>
        <p:spPr>
          <a:xfrm>
            <a:off x="7144" y="4618434"/>
            <a:ext cx="9129713" cy="517922"/>
          </a:xfrm>
          <a:prstGeom prst="rect">
            <a:avLst/>
          </a:prstGeom>
          <a:noFill/>
          <a:ln/>
        </p:spPr>
        <p:txBody>
          <a:bodyPr wrap="square" lIns="680339" tIns="170053" rIns="680339" bIns="255143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Fabrique du Génie — Montauban, Occitanie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2026-09-24T12:42:46Z</dcterms:created>
  <dcterms:modified xsi:type="dcterms:W3CDTF">2026-09-24T12:42:46Z</dcterms:modified>
</cp:coreProperties>
</file>